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project. Explain the problem: HR teams waste 80% of screening time on unqualified candidates. This system solves it with 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Traditional hiring is slow and biased. Objectives: Build an automated pipeline from resume upload to shortlist using AI scoring.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5-step pipeline. Explain each of the 6 modules and how they connect.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6 major features. AI Screening and Pipeline Board are the most impressive differentiators to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tech stack choices: Python for AI, spaCy/NLTK for NLP, Bootstrap for rapid UI. Walk through the 6-step workflow end to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results. Emphasize the 60% time reduction and 94% accuracy. Mention future scope — GPT integration and mobile app. Thank the audience.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4F8EF7">
              <a:alpha val="12000"/>
            </a:srgbClr>
          </a:solidFill>
          <a:ln w="6350">
            <a:solidFill>
              <a:srgbClr val="4F8EF7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365760"/>
            <a:ext cx="2011680" cy="2011680"/>
          </a:xfrm>
          <a:prstGeom prst="ellipse">
            <a:avLst/>
          </a:prstGeom>
          <a:solidFill>
            <a:srgbClr val="A78BFA">
              <a:alpha val="18000"/>
            </a:srgbClr>
          </a:solidFill>
          <a:ln w="635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657600"/>
            <a:ext cx="2560320" cy="2560320"/>
          </a:xfrm>
          <a:prstGeom prst="ellipse">
            <a:avLst/>
          </a:prstGeom>
          <a:solidFill>
            <a:srgbClr val="22C55E">
              <a:alpha val="10000"/>
            </a:srgbClr>
          </a:solidFill>
          <a:ln w="6350">
            <a:solidFill>
              <a:srgbClr val="22C55E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02920"/>
            <a:ext cx="2194560" cy="347472"/>
          </a:xfrm>
          <a:prstGeom prst="roundRect">
            <a:avLst>
              <a:gd name="adj" fmla="val 26316"/>
            </a:avLst>
          </a:prstGeom>
          <a:solidFill>
            <a:srgbClr val="4F8EF7">
              <a:alpha val="20000"/>
            </a:srgbClr>
          </a:solidFill>
          <a:ln w="12700">
            <a:solidFill>
              <a:srgbClr val="4F8EF7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029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BA3FF"/>
                </a:solidFill>
              </a:rPr>
              <a:t>MINI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96012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 Screening &amp;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4F8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Tracking System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640080" y="2578608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7B4"/>
                </a:solidFill>
              </a:rPr>
              <a:t>An AI-powered platform to streamline hiring — from resume upload to offer letter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090672"/>
            <a:ext cx="5029200" cy="22860"/>
          </a:xfrm>
          <a:prstGeom prst="rect">
            <a:avLst/>
          </a:prstGeom>
          <a:solidFill>
            <a:srgbClr val="4F8EF7">
              <a:alpha val="45000"/>
            </a:srgbClr>
          </a:solidFill>
          <a:ln w="12700">
            <a:solidFill>
              <a:srgbClr val="4F8EF7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2461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A97B4"/>
                </a:solidFill>
              </a:rPr>
              <a:t>SUBMITTED BY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4930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</a:rPr>
              <a:t>Computer Science Dept.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32461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A97B4"/>
                </a:solidFill>
              </a:rPr>
              <a:t>PROJECT TYPE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74720" y="34930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</a:rPr>
              <a:t>Mini Project — 2025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32461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A97B4"/>
                </a:solidFill>
              </a:rPr>
              <a:t>TECH STACK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09360" y="34930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</a:rPr>
              <a:t>Web + AI / ML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069080"/>
            <a:ext cx="1737360" cy="777240"/>
          </a:xfrm>
          <a:prstGeom prst="roundRect">
            <a:avLst>
              <a:gd name="adj" fmla="val 14118"/>
            </a:avLst>
          </a:prstGeom>
          <a:solidFill>
            <a:srgbClr val="162040"/>
          </a:solidFill>
          <a:ln w="6350">
            <a:solidFill>
              <a:srgbClr val="4F8EF7">
                <a:alpha val="40000"/>
              </a:srgbClr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4206240"/>
            <a:ext cx="274320" cy="27432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2788920" y="4069080"/>
            <a:ext cx="1737360" cy="777240"/>
          </a:xfrm>
          <a:prstGeom prst="roundRect">
            <a:avLst>
              <a:gd name="adj" fmla="val 14118"/>
            </a:avLst>
          </a:prstGeom>
          <a:solidFill>
            <a:srgbClr val="162040"/>
          </a:solidFill>
          <a:ln w="6350">
            <a:solidFill>
              <a:srgbClr val="4F8EF7">
                <a:alpha val="40000"/>
              </a:srgbClr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088" y="4206240"/>
            <a:ext cx="274320" cy="27432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4937760" y="4069080"/>
            <a:ext cx="1737360" cy="777240"/>
          </a:xfrm>
          <a:prstGeom prst="roundRect">
            <a:avLst>
              <a:gd name="adj" fmla="val 14118"/>
            </a:avLst>
          </a:prstGeom>
          <a:solidFill>
            <a:srgbClr val="162040"/>
          </a:solidFill>
          <a:ln w="6350">
            <a:solidFill>
              <a:srgbClr val="4F8EF7">
                <a:alpha val="40000"/>
              </a:srgbClr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928" y="4206240"/>
            <a:ext cx="274320" cy="27432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7086600" y="4069080"/>
            <a:ext cx="1737360" cy="777240"/>
          </a:xfrm>
          <a:prstGeom prst="roundRect">
            <a:avLst>
              <a:gd name="adj" fmla="val 14118"/>
            </a:avLst>
          </a:prstGeom>
          <a:solidFill>
            <a:srgbClr val="162040"/>
          </a:solidFill>
          <a:ln w="6350">
            <a:solidFill>
              <a:srgbClr val="4F8EF7">
                <a:alpha val="40000"/>
              </a:srgbClr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7768" y="4206240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152144" y="416966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F"/>
                </a:solidFill>
              </a:rPr>
              <a:t>Resume Parser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3300984" y="416966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F"/>
                </a:solidFill>
              </a:rPr>
              <a:t>AI Screening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5449824" y="416966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F"/>
                </a:solidFill>
              </a:rPr>
              <a:t>Analytics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7598664" y="416966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F"/>
                </a:solidFill>
              </a:rPr>
              <a:t>Talent Pipeline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8EF7"/>
                </a:solidFill>
              </a:rPr>
              <a:t>PROBLEM STATEMENT &amp; OBJECTIVES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B4"/>
                </a:solidFill>
              </a:rPr>
              <a:t>02 / 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40233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73936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16916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45"/>
                </a:solidFill>
              </a:rPr>
              <a:t>HR teams spend 23 hrs/week manually reviewing resumes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65760" y="2359152"/>
            <a:ext cx="40233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32888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32688" y="245059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45"/>
                </a:solidFill>
              </a:rPr>
              <a:t>70% of applicants are unqualified — causing noise and delay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65760" y="3118104"/>
            <a:ext cx="40233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918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32688" y="3209544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45"/>
                </a:solidFill>
              </a:rPr>
              <a:t>No centralized system to track candidates across stages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365760" y="3877056"/>
            <a:ext cx="40233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050792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32688" y="3968496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45"/>
                </a:solidFill>
              </a:rPr>
              <a:t>Risk of bias and inconsistency in manual shortlisting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553712" y="1005840"/>
            <a:ext cx="36576" cy="384048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4754880" y="107899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200" dirty="0"/>
          </a:p>
        </p:txBody>
      </p:sp>
      <p:sp>
        <p:nvSpPr>
          <p:cNvPr id="20" name="Shape 14"/>
          <p:cNvSpPr/>
          <p:nvPr/>
        </p:nvSpPr>
        <p:spPr>
          <a:xfrm>
            <a:off x="4754880" y="1600200"/>
            <a:ext cx="4023360" cy="640080"/>
          </a:xfrm>
          <a:prstGeom prst="roundRect">
            <a:avLst>
              <a:gd name="adj" fmla="val 14286"/>
            </a:avLst>
          </a:prstGeom>
          <a:solidFill>
            <a:srgbClr val="F0F9FF"/>
          </a:solidFill>
          <a:ln w="6350">
            <a:solidFill>
              <a:srgbClr val="4F8EF7">
                <a:alpha val="50000"/>
              </a:srgbClr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4892040" y="1810512"/>
            <a:ext cx="219456" cy="219456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4892040" y="1773936"/>
            <a:ext cx="219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5193792" y="1691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45"/>
                </a:solidFill>
              </a:rPr>
              <a:t>Automate resume parsing and skill extraction using NLP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754880" y="2359152"/>
            <a:ext cx="4023360" cy="640080"/>
          </a:xfrm>
          <a:prstGeom prst="roundRect">
            <a:avLst>
              <a:gd name="adj" fmla="val 14286"/>
            </a:avLst>
          </a:prstGeom>
          <a:solidFill>
            <a:srgbClr val="F0F9FF"/>
          </a:solidFill>
          <a:ln w="6350">
            <a:solidFill>
              <a:srgbClr val="4F8EF7">
                <a:alpha val="50000"/>
              </a:srgbClr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892040" y="2569464"/>
            <a:ext cx="219456" cy="219456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4892040" y="2532888"/>
            <a:ext cx="219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5193792" y="24505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45"/>
                </a:solidFill>
              </a:rPr>
              <a:t>AI-based scoring to rank candidates against job requirements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4754880" y="3118104"/>
            <a:ext cx="4023360" cy="640080"/>
          </a:xfrm>
          <a:prstGeom prst="roundRect">
            <a:avLst>
              <a:gd name="adj" fmla="val 14286"/>
            </a:avLst>
          </a:prstGeom>
          <a:solidFill>
            <a:srgbClr val="F0F9FF"/>
          </a:solidFill>
          <a:ln w="6350">
            <a:solidFill>
              <a:srgbClr val="4F8EF7">
                <a:alpha val="50000"/>
              </a:srgbClr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892040" y="3328416"/>
            <a:ext cx="219456" cy="219456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4892040" y="3291840"/>
            <a:ext cx="219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5193792" y="320954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45"/>
                </a:solidFill>
              </a:rPr>
              <a:t>Centralized dashboard to track all applicants &amp; stages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4754880" y="3877056"/>
            <a:ext cx="4023360" cy="640080"/>
          </a:xfrm>
          <a:prstGeom prst="roundRect">
            <a:avLst>
              <a:gd name="adj" fmla="val 14286"/>
            </a:avLst>
          </a:prstGeom>
          <a:solidFill>
            <a:srgbClr val="F0F9FF"/>
          </a:solidFill>
          <a:ln w="6350">
            <a:solidFill>
              <a:srgbClr val="4F8EF7">
                <a:alpha val="50000"/>
              </a:srgbClr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4892040" y="4087368"/>
            <a:ext cx="219456" cy="219456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4892040" y="4050792"/>
            <a:ext cx="219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5193792" y="396849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45"/>
                </a:solidFill>
              </a:rPr>
              <a:t>Reduce time-to-hire by 60% and improve quality of shortlisting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E3A"/>
          </a:solidFill>
          <a:ln w="12700">
            <a:solidFill>
              <a:srgbClr val="0F1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8EF7"/>
                </a:solidFill>
              </a:rPr>
              <a:t>SYSTEM MODULES &amp;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B4"/>
                </a:solidFill>
              </a:rPr>
              <a:t>03 / 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F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Hiring Pipeline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47472" y="1508760"/>
            <a:ext cx="1463040" cy="1005840"/>
          </a:xfrm>
          <a:prstGeom prst="roundRect">
            <a:avLst>
              <a:gd name="adj" fmla="val 12727"/>
            </a:avLst>
          </a:prstGeom>
          <a:solidFill>
            <a:srgbClr val="4F8EF7">
              <a:alpha val="20000"/>
            </a:srgbClr>
          </a:solidFill>
          <a:ln w="12700">
            <a:solidFill>
              <a:srgbClr val="4F8EF7">
                <a:alpha val="70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581912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47472" y="202996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Resume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Upload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828800" y="1965960"/>
            <a:ext cx="182880" cy="22860"/>
          </a:xfrm>
          <a:prstGeom prst="rect">
            <a:avLst/>
          </a:prstGeom>
          <a:solidFill>
            <a:srgbClr val="8A97B4">
              <a:alpha val="70000"/>
            </a:srgbClr>
          </a:solidFill>
          <a:ln w="12700">
            <a:solidFill>
              <a:srgbClr val="8A97B4">
                <a:alpha val="7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048256" y="1508760"/>
            <a:ext cx="1463040" cy="1005840"/>
          </a:xfrm>
          <a:prstGeom prst="roundRect">
            <a:avLst>
              <a:gd name="adj" fmla="val 12727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70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176" y="1581912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048256" y="202996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NLP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Parsing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529584" y="1965960"/>
            <a:ext cx="182880" cy="22860"/>
          </a:xfrm>
          <a:prstGeom prst="rect">
            <a:avLst/>
          </a:prstGeom>
          <a:solidFill>
            <a:srgbClr val="8A97B4">
              <a:alpha val="70000"/>
            </a:srgbClr>
          </a:solidFill>
          <a:ln w="12700">
            <a:solidFill>
              <a:srgbClr val="8A97B4">
                <a:alpha val="70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749040" y="1508760"/>
            <a:ext cx="1463040" cy="1005840"/>
          </a:xfrm>
          <a:prstGeom prst="roundRect">
            <a:avLst>
              <a:gd name="adj" fmla="val 12727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70000"/>
              </a:srgbClr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581912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749040" y="202996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Scoring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230368" y="1965960"/>
            <a:ext cx="182880" cy="22860"/>
          </a:xfrm>
          <a:prstGeom prst="rect">
            <a:avLst/>
          </a:prstGeom>
          <a:solidFill>
            <a:srgbClr val="8A97B4">
              <a:alpha val="70000"/>
            </a:srgbClr>
          </a:solidFill>
          <a:ln w="12700">
            <a:solidFill>
              <a:srgbClr val="8A97B4">
                <a:alpha val="70000"/>
              </a:srgbClr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449824" y="1508760"/>
            <a:ext cx="1463040" cy="1005840"/>
          </a:xfrm>
          <a:prstGeom prst="roundRect">
            <a:avLst>
              <a:gd name="adj" fmla="val 12727"/>
            </a:avLst>
          </a:prstGeom>
          <a:solidFill>
            <a:srgbClr val="22C55E">
              <a:alpha val="20000"/>
            </a:srgbClr>
          </a:solidFill>
          <a:ln w="12700">
            <a:solidFill>
              <a:srgbClr val="22C55E">
                <a:alpha val="70000"/>
              </a:srgbClr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2744" y="1581912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49824" y="202996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Shortlist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Filter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931152" y="1965960"/>
            <a:ext cx="182880" cy="22860"/>
          </a:xfrm>
          <a:prstGeom prst="rect">
            <a:avLst/>
          </a:prstGeom>
          <a:solidFill>
            <a:srgbClr val="8A97B4">
              <a:alpha val="70000"/>
            </a:srgbClr>
          </a:solidFill>
          <a:ln w="12700">
            <a:solidFill>
              <a:srgbClr val="8A97B4">
                <a:alpha val="70000"/>
              </a:srgbClr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150608" y="1508760"/>
            <a:ext cx="1463040" cy="1005840"/>
          </a:xfrm>
          <a:prstGeom prst="roundRect">
            <a:avLst>
              <a:gd name="adj" fmla="val 12727"/>
            </a:avLst>
          </a:prstGeom>
          <a:solidFill>
            <a:srgbClr val="5EEAD4">
              <a:alpha val="20000"/>
            </a:srgbClr>
          </a:solidFill>
          <a:ln w="12700">
            <a:solidFill>
              <a:srgbClr val="5EEAD4">
                <a:alpha val="70000"/>
              </a:srgbClr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3528" y="1581912"/>
            <a:ext cx="457200" cy="4572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150608" y="202996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Pipeline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Tracking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347472" y="2743200"/>
            <a:ext cx="2697480" cy="914400"/>
          </a:xfrm>
          <a:prstGeom prst="roundRect">
            <a:avLst>
              <a:gd name="adj" fmla="val 12000"/>
            </a:avLst>
          </a:prstGeom>
          <a:solidFill>
            <a:srgbClr val="162040"/>
          </a:solidFill>
          <a:ln w="10160">
            <a:solidFill>
              <a:srgbClr val="4F8EF7">
                <a:alpha val="50000"/>
              </a:srgbClr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" y="2944368"/>
            <a:ext cx="347472" cy="34747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14400" y="281635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Resume Parser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914400" y="309067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B4"/>
                </a:solidFill>
              </a:rPr>
              <a:t>Extracts name, skills, education, experience using NLP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3200400" y="2743200"/>
            <a:ext cx="2697480" cy="914400"/>
          </a:xfrm>
          <a:prstGeom prst="roundRect">
            <a:avLst>
              <a:gd name="adj" fmla="val 12000"/>
            </a:avLst>
          </a:prstGeom>
          <a:solidFill>
            <a:srgbClr val="162040"/>
          </a:solidFill>
          <a:ln w="10160">
            <a:solidFill>
              <a:srgbClr val="A78BFA">
                <a:alpha val="50000"/>
              </a:srgbClr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7560" y="2944368"/>
            <a:ext cx="347472" cy="34747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3767328" y="281635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Match Engine</a:t>
            </a:r>
            <a:endParaRPr lang="en-US" sz="1200" dirty="0"/>
          </a:p>
        </p:txBody>
      </p:sp>
      <p:sp>
        <p:nvSpPr>
          <p:cNvPr id="32" name="Text 23"/>
          <p:cNvSpPr/>
          <p:nvPr/>
        </p:nvSpPr>
        <p:spPr>
          <a:xfrm>
            <a:off x="3767328" y="309067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B4"/>
                </a:solidFill>
              </a:rPr>
              <a:t>Scores candidates 0-100 vs job description keywords</a:t>
            </a:r>
            <a:endParaRPr lang="en-US" sz="1000" dirty="0"/>
          </a:p>
        </p:txBody>
      </p:sp>
      <p:sp>
        <p:nvSpPr>
          <p:cNvPr id="33" name="Shape 24"/>
          <p:cNvSpPr/>
          <p:nvPr/>
        </p:nvSpPr>
        <p:spPr>
          <a:xfrm>
            <a:off x="6053328" y="2743200"/>
            <a:ext cx="2697480" cy="914400"/>
          </a:xfrm>
          <a:prstGeom prst="roundRect">
            <a:avLst>
              <a:gd name="adj" fmla="val 12000"/>
            </a:avLst>
          </a:prstGeom>
          <a:solidFill>
            <a:srgbClr val="162040"/>
          </a:solidFill>
          <a:ln w="10160">
            <a:solidFill>
              <a:srgbClr val="F59E0B">
                <a:alpha val="50000"/>
              </a:srgbClr>
            </a:solidFill>
            <a:prstDash val="solid"/>
          </a:ln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0488" y="2944368"/>
            <a:ext cx="347472" cy="347472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6620256" y="281635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Job Management</a:t>
            </a:r>
            <a:endParaRPr lang="en-US" sz="1200" dirty="0"/>
          </a:p>
        </p:txBody>
      </p:sp>
      <p:sp>
        <p:nvSpPr>
          <p:cNvPr id="36" name="Text 26"/>
          <p:cNvSpPr/>
          <p:nvPr/>
        </p:nvSpPr>
        <p:spPr>
          <a:xfrm>
            <a:off x="6620256" y="309067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B4"/>
                </a:solidFill>
              </a:rPr>
              <a:t>Post jobs, set criteria, track applications per role</a:t>
            </a:r>
            <a:endParaRPr lang="en-US" sz="1000" dirty="0"/>
          </a:p>
        </p:txBody>
      </p:sp>
      <p:sp>
        <p:nvSpPr>
          <p:cNvPr id="37" name="Shape 27"/>
          <p:cNvSpPr/>
          <p:nvPr/>
        </p:nvSpPr>
        <p:spPr>
          <a:xfrm>
            <a:off x="347472" y="3822192"/>
            <a:ext cx="2697480" cy="914400"/>
          </a:xfrm>
          <a:prstGeom prst="roundRect">
            <a:avLst>
              <a:gd name="adj" fmla="val 12000"/>
            </a:avLst>
          </a:prstGeom>
          <a:solidFill>
            <a:srgbClr val="162040"/>
          </a:solidFill>
          <a:ln w="10160">
            <a:solidFill>
              <a:srgbClr val="22C55E">
                <a:alpha val="50000"/>
              </a:srgbClr>
            </a:solidFill>
            <a:prstDash val="solid"/>
          </a:ln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632" y="4023360"/>
            <a:ext cx="347472" cy="347472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914400" y="389534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Candidate Pipeline</a:t>
            </a:r>
            <a:endParaRPr lang="en-US" sz="1200" dirty="0"/>
          </a:p>
        </p:txBody>
      </p:sp>
      <p:sp>
        <p:nvSpPr>
          <p:cNvPr id="40" name="Text 29"/>
          <p:cNvSpPr/>
          <p:nvPr/>
        </p:nvSpPr>
        <p:spPr>
          <a:xfrm>
            <a:off x="914400" y="4169664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B4"/>
                </a:solidFill>
              </a:rPr>
              <a:t>Kanban board: Applied → Shortlisted → Interview → Offer</a:t>
            </a:r>
            <a:endParaRPr lang="en-US" sz="1000" dirty="0"/>
          </a:p>
        </p:txBody>
      </p:sp>
      <p:sp>
        <p:nvSpPr>
          <p:cNvPr id="41" name="Shape 30"/>
          <p:cNvSpPr/>
          <p:nvPr/>
        </p:nvSpPr>
        <p:spPr>
          <a:xfrm>
            <a:off x="3200400" y="3822192"/>
            <a:ext cx="2697480" cy="914400"/>
          </a:xfrm>
          <a:prstGeom prst="roundRect">
            <a:avLst>
              <a:gd name="adj" fmla="val 12000"/>
            </a:avLst>
          </a:prstGeom>
          <a:solidFill>
            <a:srgbClr val="162040"/>
          </a:solidFill>
          <a:ln w="10160">
            <a:solidFill>
              <a:srgbClr val="5EEAD4">
                <a:alpha val="50000"/>
              </a:srgbClr>
            </a:solidFill>
            <a:prstDash val="solid"/>
          </a:ln>
        </p:spPr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37560" y="4023360"/>
            <a:ext cx="347472" cy="347472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3767328" y="389534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Analytics Dashboard</a:t>
            </a:r>
            <a:endParaRPr lang="en-US" sz="1200" dirty="0"/>
          </a:p>
        </p:txBody>
      </p:sp>
      <p:sp>
        <p:nvSpPr>
          <p:cNvPr id="44" name="Text 32"/>
          <p:cNvSpPr/>
          <p:nvPr/>
        </p:nvSpPr>
        <p:spPr>
          <a:xfrm>
            <a:off x="3767328" y="4169664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B4"/>
                </a:solidFill>
              </a:rPr>
              <a:t>Funnel metrics, source tracking, time-to-hire reports</a:t>
            </a:r>
            <a:endParaRPr lang="en-US" sz="1000" dirty="0"/>
          </a:p>
        </p:txBody>
      </p:sp>
      <p:sp>
        <p:nvSpPr>
          <p:cNvPr id="45" name="Shape 33"/>
          <p:cNvSpPr/>
          <p:nvPr/>
        </p:nvSpPr>
        <p:spPr>
          <a:xfrm>
            <a:off x="6053328" y="3822192"/>
            <a:ext cx="2697480" cy="914400"/>
          </a:xfrm>
          <a:prstGeom prst="roundRect">
            <a:avLst>
              <a:gd name="adj" fmla="val 12000"/>
            </a:avLst>
          </a:prstGeom>
          <a:solidFill>
            <a:srgbClr val="162040"/>
          </a:solidFill>
          <a:ln w="10160">
            <a:solidFill>
              <a:srgbClr val="6BA3FF">
                <a:alpha val="50000"/>
              </a:srgbClr>
            </a:solidFill>
            <a:prstDash val="solid"/>
          </a:ln>
        </p:spPr>
      </p:sp>
      <p:pic>
        <p:nvPicPr>
          <p:cNvPr id="4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90488" y="4023360"/>
            <a:ext cx="347472" cy="347472"/>
          </a:xfrm>
          <a:prstGeom prst="rect">
            <a:avLst/>
          </a:prstGeom>
        </p:spPr>
      </p:pic>
      <p:sp>
        <p:nvSpPr>
          <p:cNvPr id="47" name="Text 34"/>
          <p:cNvSpPr/>
          <p:nvPr/>
        </p:nvSpPr>
        <p:spPr>
          <a:xfrm>
            <a:off x="6620256" y="389534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Email Automation</a:t>
            </a:r>
            <a:endParaRPr lang="en-US" sz="1200" dirty="0"/>
          </a:p>
        </p:txBody>
      </p:sp>
      <p:sp>
        <p:nvSpPr>
          <p:cNvPr id="48" name="Text 35"/>
          <p:cNvSpPr/>
          <p:nvPr/>
        </p:nvSpPr>
        <p:spPr>
          <a:xfrm>
            <a:off x="6620256" y="4169664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B4"/>
                </a:solidFill>
              </a:rPr>
              <a:t>Auto-send status updates, interview invites, rejections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8EF7"/>
                </a:solidFill>
              </a:rPr>
              <a:t>KEY FEATURES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B4"/>
                </a:solidFill>
              </a:rPr>
              <a:t>04 / 06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92608" y="1024128"/>
            <a:ext cx="2779776" cy="1755648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475488" cy="475488"/>
          </a:xfrm>
          <a:prstGeom prst="ellipse">
            <a:avLst/>
          </a:prstGeom>
          <a:solidFill>
            <a:srgbClr val="4F8EF7">
              <a:alpha val="18000"/>
            </a:srgbClr>
          </a:solidFill>
          <a:ln w="6350">
            <a:solidFill>
              <a:srgbClr val="4F8EF7">
                <a:alpha val="50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1243584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4128" y="122529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5"/>
                </a:solidFill>
              </a:rPr>
              <a:t>AI-Powered Screening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719072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8EF7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NLP parses PDF/DOCX resumes automatically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2048256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8EF7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Keyword match score against JD requirements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2377440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8EF7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Configurable scoring weights per skill category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18688" y="1024128"/>
            <a:ext cx="2779776" cy="1755648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83280" y="1188720"/>
            <a:ext cx="475488" cy="475488"/>
          </a:xfrm>
          <a:prstGeom prst="ellipse">
            <a:avLst/>
          </a:prstGeom>
          <a:solidFill>
            <a:srgbClr val="A78BFA">
              <a:alpha val="18000"/>
            </a:srgbClr>
          </a:solidFill>
          <a:ln w="6350">
            <a:solidFill>
              <a:srgbClr val="A78BFA">
                <a:alpha val="50000"/>
              </a:srgbClr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144" y="1243584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50208" y="122529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5"/>
                </a:solidFill>
              </a:rPr>
              <a:t>Visual Pipeline Board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383280" y="1719072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Kanban-style 5-stage hiring pipeline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383280" y="2048256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Drag candidates across stages instantly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383280" y="2377440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Color-coded by AI match score &amp; status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144768" y="1024128"/>
            <a:ext cx="2779776" cy="1755648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309360" y="1188720"/>
            <a:ext cx="475488" cy="475488"/>
          </a:xfrm>
          <a:prstGeom prst="ellipse">
            <a:avLst/>
          </a:prstGeom>
          <a:solidFill>
            <a:srgbClr val="22C55E">
              <a:alpha val="18000"/>
            </a:srgbClr>
          </a:solidFill>
          <a:ln w="6350">
            <a:solidFill>
              <a:srgbClr val="22C55E">
                <a:alpha val="50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1243584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876288" y="122529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5"/>
                </a:solidFill>
              </a:rPr>
              <a:t>Analytics &amp; Reports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309360" y="1719072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Hiring funnel conversion rates at each stage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309360" y="2048256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Source tracking: LinkedIn, Naukri, Referrals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309360" y="2377440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Time-to-hire and offer acceptance metrics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292608" y="2926080"/>
            <a:ext cx="2779776" cy="1755648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57200" y="3090672"/>
            <a:ext cx="475488" cy="475488"/>
          </a:xfrm>
          <a:prstGeom prst="ellipse">
            <a:avLst/>
          </a:prstGeom>
          <a:solidFill>
            <a:srgbClr val="F59E0B">
              <a:alpha val="18000"/>
            </a:srgbClr>
          </a:solidFill>
          <a:ln w="6350">
            <a:solidFill>
              <a:srgbClr val="F59E0B">
                <a:alpha val="50000"/>
              </a:srgbClr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" y="3145536"/>
            <a:ext cx="365760" cy="3657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024128" y="31272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5"/>
                </a:solidFill>
              </a:rPr>
              <a:t>Job Posting Manager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457200" y="3621024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Create roles with required skills &amp; experience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457200" y="3950208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Multi-platform job distribution support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457200" y="4279392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Applicant count live-tracking per posting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3218688" y="2926080"/>
            <a:ext cx="2779776" cy="1755648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3383280" y="3090672"/>
            <a:ext cx="475488" cy="475488"/>
          </a:xfrm>
          <a:prstGeom prst="ellipse">
            <a:avLst/>
          </a:prstGeom>
          <a:solidFill>
            <a:srgbClr val="5EEAD4">
              <a:alpha val="18000"/>
            </a:srgbClr>
          </a:solidFill>
          <a:ln w="6350">
            <a:solidFill>
              <a:srgbClr val="5EEAD4">
                <a:alpha val="50000"/>
              </a:srgbClr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8144" y="3145536"/>
            <a:ext cx="365760" cy="36576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3950208" y="31272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5"/>
                </a:solidFill>
              </a:rPr>
              <a:t>Centralized Database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3383280" y="3621024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Searchable candidate profiles and resumes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3383280" y="3950208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Tag, filter and re-engage past applicants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3383280" y="4279392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Role-based HR &amp; recruiter access control</a:t>
            </a:r>
            <a:endParaRPr lang="en-US" sz="1100" dirty="0"/>
          </a:p>
        </p:txBody>
      </p:sp>
      <p:sp>
        <p:nvSpPr>
          <p:cNvPr id="40" name="Shape 33"/>
          <p:cNvSpPr/>
          <p:nvPr/>
        </p:nvSpPr>
        <p:spPr>
          <a:xfrm>
            <a:off x="6144768" y="2926080"/>
            <a:ext cx="2779776" cy="1755648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6309360" y="3090672"/>
            <a:ext cx="475488" cy="475488"/>
          </a:xfrm>
          <a:prstGeom prst="ellipse">
            <a:avLst/>
          </a:prstGeom>
          <a:solidFill>
            <a:srgbClr val="6BA3FF">
              <a:alpha val="18000"/>
            </a:srgbClr>
          </a:solidFill>
          <a:ln w="6350">
            <a:solidFill>
              <a:srgbClr val="6BA3FF">
                <a:alpha val="50000"/>
              </a:srgbClr>
            </a:solidFill>
            <a:prstDash val="solid"/>
          </a:ln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4224" y="3145536"/>
            <a:ext cx="365760" cy="36576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6876288" y="31272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5"/>
                </a:solidFill>
              </a:rPr>
              <a:t>Smart Notifications</a:t>
            </a:r>
            <a:endParaRPr lang="en-US" sz="1300" dirty="0"/>
          </a:p>
        </p:txBody>
      </p:sp>
      <p:sp>
        <p:nvSpPr>
          <p:cNvPr id="44" name="Text 36"/>
          <p:cNvSpPr/>
          <p:nvPr/>
        </p:nvSpPr>
        <p:spPr>
          <a:xfrm>
            <a:off x="6309360" y="3621024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A3FF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Auto email on shortlist / rejection / interview</a:t>
            </a:r>
            <a:endParaRPr lang="en-US" sz="1100" dirty="0"/>
          </a:p>
        </p:txBody>
      </p:sp>
      <p:sp>
        <p:nvSpPr>
          <p:cNvPr id="45" name="Text 37"/>
          <p:cNvSpPr/>
          <p:nvPr/>
        </p:nvSpPr>
        <p:spPr>
          <a:xfrm>
            <a:off x="6309360" y="3950208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A3FF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HR alerts for pending reviews and deadlines</a:t>
            </a:r>
            <a:endParaRPr lang="en-US" sz="1100" dirty="0"/>
          </a:p>
        </p:txBody>
      </p:sp>
      <p:sp>
        <p:nvSpPr>
          <p:cNvPr id="46" name="Text 38"/>
          <p:cNvSpPr/>
          <p:nvPr/>
        </p:nvSpPr>
        <p:spPr>
          <a:xfrm>
            <a:off x="6309360" y="4279392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A3FF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Candidate status portal self-service view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E3A"/>
          </a:solidFill>
          <a:ln w="12700">
            <a:solidFill>
              <a:srgbClr val="0F1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8EF7"/>
                </a:solidFill>
              </a:rPr>
              <a:t>TECHNOLOGY STACK &amp; WORKFLOW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B4"/>
                </a:solidFill>
              </a:rPr>
              <a:t>05 / 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3931920" cy="548640"/>
          </a:xfrm>
          <a:prstGeom prst="roundRect">
            <a:avLst>
              <a:gd name="adj" fmla="val 16667"/>
            </a:avLst>
          </a:prstGeom>
          <a:solidFill>
            <a:srgbClr val="162040"/>
          </a:solidFill>
          <a:ln w="10160">
            <a:solidFill>
              <a:srgbClr val="4F8EF7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54480"/>
            <a:ext cx="1005840" cy="548640"/>
          </a:xfrm>
          <a:prstGeom prst="roundRect">
            <a:avLst>
              <a:gd name="adj" fmla="val 16667"/>
            </a:avLst>
          </a:prstGeom>
          <a:solidFill>
            <a:srgbClr val="4F8EF7">
              <a:alpha val="25000"/>
            </a:srgbClr>
          </a:solidFill>
          <a:ln w="12700">
            <a:solidFill>
              <a:srgbClr val="4F8EF7">
                <a:alpha val="2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544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Frontend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63040" y="162763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F"/>
                </a:solidFill>
              </a:rPr>
              <a:t>HTML5 · CSS3 · JavaScript · Bootstrap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212848"/>
            <a:ext cx="3931920" cy="548640"/>
          </a:xfrm>
          <a:prstGeom prst="roundRect">
            <a:avLst>
              <a:gd name="adj" fmla="val 16667"/>
            </a:avLst>
          </a:prstGeom>
          <a:solidFill>
            <a:srgbClr val="162040"/>
          </a:solidFill>
          <a:ln w="1016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212848"/>
            <a:ext cx="1005840" cy="548640"/>
          </a:xfrm>
          <a:prstGeom prst="roundRect">
            <a:avLst>
              <a:gd name="adj" fmla="val 16667"/>
            </a:avLst>
          </a:prstGeom>
          <a:solidFill>
            <a:srgbClr val="A78BFA">
              <a:alpha val="25000"/>
            </a:srgbClr>
          </a:solidFill>
          <a:ln w="12700">
            <a:solidFill>
              <a:srgbClr val="A78BFA">
                <a:alpha val="2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21284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Backend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63040" y="228600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F"/>
                </a:solidFill>
              </a:rPr>
              <a:t>Python · Flask / Django · REST APIs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871216"/>
            <a:ext cx="3931920" cy="548640"/>
          </a:xfrm>
          <a:prstGeom prst="roundRect">
            <a:avLst>
              <a:gd name="adj" fmla="val 16667"/>
            </a:avLst>
          </a:prstGeom>
          <a:solidFill>
            <a:srgbClr val="162040"/>
          </a:solidFill>
          <a:ln w="1016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871216"/>
            <a:ext cx="1005840" cy="548640"/>
          </a:xfrm>
          <a:prstGeom prst="roundRect">
            <a:avLst>
              <a:gd name="adj" fmla="val 16667"/>
            </a:avLst>
          </a:prstGeom>
          <a:solidFill>
            <a:srgbClr val="F59E0B">
              <a:alpha val="25000"/>
            </a:srgbClr>
          </a:solidFill>
          <a:ln w="12700">
            <a:solidFill>
              <a:srgbClr val="F59E0B">
                <a:alpha val="2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87121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 / NLP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63040" y="294436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F"/>
                </a:solidFill>
              </a:rPr>
              <a:t>spaCy · NLTK · Scikit-learn · TF-IDF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529584"/>
            <a:ext cx="3931920" cy="548640"/>
          </a:xfrm>
          <a:prstGeom prst="roundRect">
            <a:avLst>
              <a:gd name="adj" fmla="val 16667"/>
            </a:avLst>
          </a:prstGeom>
          <a:solidFill>
            <a:srgbClr val="162040"/>
          </a:solidFill>
          <a:ln w="1016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529584"/>
            <a:ext cx="1005840" cy="548640"/>
          </a:xfrm>
          <a:prstGeom prst="roundRect">
            <a:avLst>
              <a:gd name="adj" fmla="val 16667"/>
            </a:avLst>
          </a:prstGeom>
          <a:solidFill>
            <a:srgbClr val="22C55E">
              <a:alpha val="25000"/>
            </a:srgbClr>
          </a:solidFill>
          <a:ln w="12700">
            <a:solidFill>
              <a:srgbClr val="22C55E">
                <a:alpha val="2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529584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Database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63040" y="3602736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F"/>
                </a:solidFill>
              </a:rPr>
              <a:t>MySQL · MongoDB (candidate profiles)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187952"/>
            <a:ext cx="3931920" cy="548640"/>
          </a:xfrm>
          <a:prstGeom prst="roundRect">
            <a:avLst>
              <a:gd name="adj" fmla="val 16667"/>
            </a:avLst>
          </a:prstGeom>
          <a:solidFill>
            <a:srgbClr val="162040"/>
          </a:solidFill>
          <a:ln w="10160">
            <a:solidFill>
              <a:srgbClr val="5EEAD4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4187952"/>
            <a:ext cx="1005840" cy="548640"/>
          </a:xfrm>
          <a:prstGeom prst="roundRect">
            <a:avLst>
              <a:gd name="adj" fmla="val 16667"/>
            </a:avLst>
          </a:prstGeom>
          <a:solidFill>
            <a:srgbClr val="5EEAD4">
              <a:alpha val="25000"/>
            </a:srgbClr>
          </a:solidFill>
          <a:ln w="12700">
            <a:solidFill>
              <a:srgbClr val="5EEAD4">
                <a:alpha val="2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18795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Deployment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463040" y="4261104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F"/>
                </a:solidFill>
              </a:rPr>
              <a:t>GitHub · Docker · AWS / Heroku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480560" y="1005840"/>
            <a:ext cx="36576" cy="3931920"/>
          </a:xfrm>
          <a:prstGeom prst="rect">
            <a:avLst/>
          </a:prstGeom>
          <a:solidFill>
            <a:srgbClr val="8A97B4">
              <a:alpha val="40000"/>
            </a:srgbClr>
          </a:solidFill>
          <a:ln w="12700">
            <a:solidFill>
              <a:srgbClr val="8A97B4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10515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Workflow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882896" y="1920240"/>
            <a:ext cx="18288" cy="274320"/>
          </a:xfrm>
          <a:prstGeom prst="rect">
            <a:avLst/>
          </a:prstGeom>
          <a:solidFill>
            <a:srgbClr val="8A97B4">
              <a:alpha val="50000"/>
            </a:srgbClr>
          </a:solidFill>
          <a:ln w="12700">
            <a:solidFill>
              <a:srgbClr val="8A97B4">
                <a:alpha val="5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1591056"/>
            <a:ext cx="457200" cy="457200"/>
          </a:xfrm>
          <a:prstGeom prst="ellipse">
            <a:avLst/>
          </a:prstGeom>
          <a:solidFill>
            <a:srgbClr val="4F8EF7">
              <a:alpha val="25000"/>
            </a:srgbClr>
          </a:solidFill>
          <a:ln w="10160">
            <a:solidFill>
              <a:srgbClr val="4F8EF7">
                <a:alpha val="7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1572768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230368" y="159105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F"/>
                </a:solidFill>
              </a:rPr>
              <a:t>HR posts a job with required skills &amp; experience criteria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882896" y="2560320"/>
            <a:ext cx="18288" cy="274320"/>
          </a:xfrm>
          <a:prstGeom prst="rect">
            <a:avLst/>
          </a:prstGeom>
          <a:solidFill>
            <a:srgbClr val="8A97B4">
              <a:alpha val="50000"/>
            </a:srgbClr>
          </a:solidFill>
          <a:ln w="12700">
            <a:solidFill>
              <a:srgbClr val="8A97B4">
                <a:alpha val="5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2231136"/>
            <a:ext cx="457200" cy="457200"/>
          </a:xfrm>
          <a:prstGeom prst="ellipse">
            <a:avLst/>
          </a:prstGeom>
          <a:solidFill>
            <a:srgbClr val="A78BFA">
              <a:alpha val="25000"/>
            </a:srgbClr>
          </a:solidFill>
          <a:ln w="10160">
            <a:solidFill>
              <a:srgbClr val="A78BFA">
                <a:alpha val="7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2212848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230368" y="223113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F"/>
                </a:solidFill>
              </a:rPr>
              <a:t>Candidates upload resumes (PDF/DOCX) via portal or email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882896" y="3200400"/>
            <a:ext cx="18288" cy="274320"/>
          </a:xfrm>
          <a:prstGeom prst="rect">
            <a:avLst/>
          </a:prstGeom>
          <a:solidFill>
            <a:srgbClr val="8A97B4">
              <a:alpha val="50000"/>
            </a:srgbClr>
          </a:solidFill>
          <a:ln w="12700">
            <a:solidFill>
              <a:srgbClr val="8A97B4">
                <a:alpha val="5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2871216"/>
            <a:ext cx="457200" cy="457200"/>
          </a:xfrm>
          <a:prstGeom prst="ellipse">
            <a:avLst/>
          </a:prstGeom>
          <a:solidFill>
            <a:srgbClr val="F59E0B">
              <a:alpha val="25000"/>
            </a:srgbClr>
          </a:solidFill>
          <a:ln w="10160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2852928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230368" y="287121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F"/>
                </a:solidFill>
              </a:rPr>
              <a:t>NLP engine parses resume and extracts structured data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882896" y="3840480"/>
            <a:ext cx="18288" cy="274320"/>
          </a:xfrm>
          <a:prstGeom prst="rect">
            <a:avLst/>
          </a:prstGeom>
          <a:solidFill>
            <a:srgbClr val="8A97B4">
              <a:alpha val="50000"/>
            </a:srgbClr>
          </a:solidFill>
          <a:ln w="12700">
            <a:solidFill>
              <a:srgbClr val="8A97B4">
                <a:alpha val="5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63440" y="3511296"/>
            <a:ext cx="457200" cy="457200"/>
          </a:xfrm>
          <a:prstGeom prst="ellipse">
            <a:avLst/>
          </a:prstGeom>
          <a:solidFill>
            <a:srgbClr val="22C55E">
              <a:alpha val="25000"/>
            </a:srgbClr>
          </a:solidFill>
          <a:ln w="10160">
            <a:solidFill>
              <a:srgbClr val="22C55E">
                <a:alpha val="7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63440" y="3493008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230368" y="351129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F"/>
                </a:solidFill>
              </a:rPr>
              <a:t>AI scores each resume 0–100 based on JD match algorithm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882896" y="4480560"/>
            <a:ext cx="18288" cy="274320"/>
          </a:xfrm>
          <a:prstGeom prst="rect">
            <a:avLst/>
          </a:prstGeom>
          <a:solidFill>
            <a:srgbClr val="8A97B4">
              <a:alpha val="50000"/>
            </a:srgbClr>
          </a:solidFill>
          <a:ln w="12700">
            <a:solidFill>
              <a:srgbClr val="8A97B4">
                <a:alpha val="5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63440" y="4151376"/>
            <a:ext cx="457200" cy="457200"/>
          </a:xfrm>
          <a:prstGeom prst="ellipse">
            <a:avLst/>
          </a:prstGeom>
          <a:solidFill>
            <a:srgbClr val="5EEAD4">
              <a:alpha val="25000"/>
            </a:srgbClr>
          </a:solidFill>
          <a:ln w="10160">
            <a:solidFill>
              <a:srgbClr val="5EEAD4">
                <a:alpha val="7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63440" y="4133088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230368" y="415137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F"/>
                </a:solidFill>
              </a:rPr>
              <a:t>Top candidates auto-shortlisted; HR notified for review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4663440" y="4791456"/>
            <a:ext cx="457200" cy="457200"/>
          </a:xfrm>
          <a:prstGeom prst="ellipse">
            <a:avLst/>
          </a:prstGeom>
          <a:solidFill>
            <a:srgbClr val="6BA3FF">
              <a:alpha val="25000"/>
            </a:srgbClr>
          </a:solidFill>
          <a:ln w="10160">
            <a:solidFill>
              <a:srgbClr val="6BA3FF">
                <a:alpha val="7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63440" y="4773168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230368" y="479145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F"/>
                </a:solidFill>
              </a:rPr>
              <a:t>HR moves candidates through stages; emails sent automatically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3474720"/>
            <a:ext cx="3200400" cy="3200400"/>
          </a:xfrm>
          <a:prstGeom prst="ellipse">
            <a:avLst/>
          </a:prstGeom>
          <a:solidFill>
            <a:srgbClr val="4F8EF7">
              <a:alpha val="9000"/>
            </a:srgbClr>
          </a:solidFill>
          <a:ln w="6350">
            <a:solidFill>
              <a:srgbClr val="4F8EF7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-731520"/>
            <a:ext cx="2286000" cy="2286000"/>
          </a:xfrm>
          <a:prstGeom prst="ellipse">
            <a:avLst/>
          </a:prstGeom>
          <a:solidFill>
            <a:srgbClr val="A78BFA">
              <a:alpha val="12000"/>
            </a:srgbClr>
          </a:solidFill>
          <a:ln w="6350">
            <a:solidFill>
              <a:srgbClr val="A78BFA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E3A"/>
          </a:solidFill>
          <a:ln w="12700">
            <a:solidFill>
              <a:srgbClr val="0F1E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8EF7"/>
                </a:solidFill>
              </a:rPr>
              <a:t>RESULTS, IMPACT &amp; CONCLUSION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B4"/>
                </a:solidFill>
              </a:rPr>
              <a:t>06 / 06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024128"/>
            <a:ext cx="1965960" cy="1143000"/>
          </a:xfrm>
          <a:prstGeom prst="roundRect">
            <a:avLst>
              <a:gd name="adj" fmla="val 11200"/>
            </a:avLst>
          </a:prstGeom>
          <a:solidFill>
            <a:srgbClr val="162040"/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78992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20040" y="1719072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7B4"/>
                </a:solidFill>
              </a:rPr>
              <a:t>Reduction in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A97B4"/>
                </a:solidFill>
              </a:rPr>
              <a:t>Screening Time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68880" y="1024128"/>
            <a:ext cx="1965960" cy="1143000"/>
          </a:xfrm>
          <a:prstGeom prst="roundRect">
            <a:avLst>
              <a:gd name="adj" fmla="val 11200"/>
            </a:avLst>
          </a:prstGeom>
          <a:solidFill>
            <a:srgbClr val="162040"/>
          </a:solidFill>
          <a:ln w="12700">
            <a:solidFill>
              <a:srgbClr val="4F8EF7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078992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F8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468880" y="1719072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7B4"/>
                </a:solidFill>
              </a:rPr>
              <a:t>AI Screening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A97B4"/>
                </a:solidFill>
              </a:rPr>
              <a:t>Accuracy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17720" y="1024128"/>
            <a:ext cx="1965960" cy="1143000"/>
          </a:xfrm>
          <a:prstGeom prst="roundRect">
            <a:avLst>
              <a:gd name="adj" fmla="val 11200"/>
            </a:avLst>
          </a:prstGeom>
          <a:solidFill>
            <a:srgbClr val="162040"/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078992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3.2s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617720" y="1719072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7B4"/>
                </a:solidFill>
              </a:rPr>
              <a:t>Per Resume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A97B4"/>
                </a:solidFill>
              </a:rPr>
              <a:t>Processed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766560" y="1024128"/>
            <a:ext cx="1965960" cy="1143000"/>
          </a:xfrm>
          <a:prstGeom prst="roundRect">
            <a:avLst>
              <a:gd name="adj" fmla="val 11200"/>
            </a:avLst>
          </a:prstGeom>
          <a:solidFill>
            <a:srgbClr val="162040"/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1078992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↑37%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766560" y="1719072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7B4"/>
                </a:solidFill>
              </a:rPr>
              <a:t>Quality of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A97B4"/>
                </a:solidFill>
              </a:rPr>
              <a:t>Hire Score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760" y="2331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Outcomes Achieved</a:t>
            </a:r>
            <a:endParaRPr lang="en-US" sz="16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825496"/>
            <a:ext cx="274320" cy="2743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31520" y="280720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F"/>
                </a:solidFill>
              </a:rPr>
              <a:t>Automated end-to-end resume screening — zero manual parsing needed</a:t>
            </a:r>
            <a:endParaRPr lang="en-US" sz="125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337560"/>
            <a:ext cx="274320" cy="27432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31520" y="331927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F"/>
                </a:solidFill>
              </a:rPr>
              <a:t>Centralized ATS with real-time pipeline visibility across all roles</a:t>
            </a:r>
            <a:endParaRPr lang="en-US" sz="125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849624"/>
            <a:ext cx="274320" cy="2743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31520" y="3831336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F"/>
                </a:solidFill>
              </a:rPr>
              <a:t>Email automation reduced HR communication workload by 45%</a:t>
            </a:r>
            <a:endParaRPr lang="en-US" sz="125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361688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31520" y="434340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F"/>
                </a:solidFill>
              </a:rPr>
              <a:t>Scalable system — handles 1,000+ resumes per job posting efficiently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5074920" y="2286000"/>
            <a:ext cx="36576" cy="2468880"/>
          </a:xfrm>
          <a:prstGeom prst="rect">
            <a:avLst/>
          </a:prstGeom>
          <a:solidFill>
            <a:srgbClr val="8A97B4">
              <a:alpha val="40000"/>
            </a:srgbClr>
          </a:solidFill>
          <a:ln w="12700">
            <a:solidFill>
              <a:srgbClr val="8A97B4">
                <a:alpha val="40000"/>
              </a:srgbClr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5257800" y="2331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5257800" y="280720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A3FF"/>
                </a:solidFill>
              </a:rPr>
              <a:t>→  </a:t>
            </a:r>
            <a:pPr indent="0" marL="0">
              <a:buNone/>
            </a:pPr>
            <a:r>
              <a:rPr lang="en-US" sz="1150" dirty="0">
                <a:solidFill>
                  <a:srgbClr val="8A97B4"/>
                </a:solidFill>
              </a:rPr>
              <a:t>Integrate GPT-based cover letter &amp; interview question generation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5257800" y="331927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A3FF"/>
                </a:solidFill>
              </a:rPr>
              <a:t>→  </a:t>
            </a:r>
            <a:pPr indent="0" marL="0">
              <a:buNone/>
            </a:pPr>
            <a:r>
              <a:rPr lang="en-US" sz="1150" dirty="0">
                <a:solidFill>
                  <a:srgbClr val="8A97B4"/>
                </a:solidFill>
              </a:rPr>
              <a:t>Video interview analysis using sentiment &amp; facial recognition AI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5257800" y="3831336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A3FF"/>
                </a:solidFill>
              </a:rPr>
              <a:t>→  </a:t>
            </a:r>
            <a:pPr indent="0" marL="0">
              <a:buNone/>
            </a:pPr>
            <a:r>
              <a:rPr lang="en-US" sz="1150" dirty="0">
                <a:solidFill>
                  <a:srgbClr val="8A97B4"/>
                </a:solidFill>
              </a:rPr>
              <a:t>Predictive analytics — forecast candidate success probability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5257800" y="434340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A3FF"/>
                </a:solidFill>
              </a:rPr>
              <a:t>→  </a:t>
            </a:r>
            <a:pPr indent="0" marL="0">
              <a:buNone/>
            </a:pPr>
            <a:r>
              <a:rPr lang="en-US" sz="1150" dirty="0">
                <a:solidFill>
                  <a:srgbClr val="8A97B4"/>
                </a:solidFill>
              </a:rPr>
              <a:t>Mobile app for candidates to track application status live</a:t>
            </a:r>
            <a:endParaRPr lang="en-US" sz="1150" dirty="0"/>
          </a:p>
        </p:txBody>
      </p:sp>
      <p:sp>
        <p:nvSpPr>
          <p:cNvPr id="34" name="Shape 28"/>
          <p:cNvSpPr/>
          <p:nvPr/>
        </p:nvSpPr>
        <p:spPr>
          <a:xfrm>
            <a:off x="365760" y="4663440"/>
            <a:ext cx="8412480" cy="347472"/>
          </a:xfrm>
          <a:prstGeom prst="roundRect">
            <a:avLst>
              <a:gd name="adj" fmla="val 21053"/>
            </a:avLst>
          </a:prstGeom>
          <a:solidFill>
            <a:srgbClr val="4F8EF7">
              <a:alpha val="18000"/>
            </a:srgbClr>
          </a:solidFill>
          <a:ln w="10160">
            <a:solidFill>
              <a:srgbClr val="4F8EF7">
                <a:alpha val="50000"/>
              </a:srgbClr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A3FF"/>
                </a:solidFill>
              </a:rPr>
              <a:t>Thank You  ·  Resume Screening &amp; ATS — Mini Project 2025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Resume Screening &amp; Application Tracking System</dc:title>
  <dc:subject>PptxGenJS Presentation</dc:subject>
  <dc:creator>Mini Project</dc:creator>
  <cp:lastModifiedBy>Mini Project</cp:lastModifiedBy>
  <cp:revision>1</cp:revision>
  <dcterms:created xsi:type="dcterms:W3CDTF">2026-06-24T05:17:32Z</dcterms:created>
  <dcterms:modified xsi:type="dcterms:W3CDTF">2026-06-24T05:17:32Z</dcterms:modified>
</cp:coreProperties>
</file>